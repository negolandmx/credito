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1628" r:id="rId2"/>
    <p:sldId id="281" r:id="rId3"/>
    <p:sldId id="1759" r:id="rId4"/>
    <p:sldId id="398" r:id="rId5"/>
    <p:sldId id="1760" r:id="rId6"/>
    <p:sldId id="386" r:id="rId7"/>
    <p:sldId id="387" r:id="rId8"/>
    <p:sldId id="382" r:id="rId9"/>
    <p:sldId id="383" r:id="rId10"/>
    <p:sldId id="1750" r:id="rId11"/>
    <p:sldId id="1749" r:id="rId12"/>
    <p:sldId id="395" r:id="rId13"/>
    <p:sldId id="256" r:id="rId14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B0F"/>
    <a:srgbClr val="B0E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5" autoAdjust="0"/>
    <p:restoredTop sz="93321" autoAdjust="0"/>
  </p:normalViewPr>
  <p:slideViewPr>
    <p:cSldViewPr snapToGrid="0" snapToObjects="1">
      <p:cViewPr varScale="1">
        <p:scale>
          <a:sx n="106" d="100"/>
          <a:sy n="106" d="100"/>
        </p:scale>
        <p:origin x="1248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4864D-32E3-4A7C-B658-206F9777DA4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1D90F-D304-46BE-859C-E34ECA59125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923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66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507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648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00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62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112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861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13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774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73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9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8722A79-6DAD-9626-8D3C-E5292BDA5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589420"/>
            <a:ext cx="6858000" cy="4309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 dirty="0"/>
              <a:t>Haz clic para editar el estilo de subtítulo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CA3C25-C879-B966-A56B-1A709CF3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9106" y="191505"/>
            <a:ext cx="554510" cy="273844"/>
          </a:xfrm>
          <a:prstGeom prst="rect">
            <a:avLst/>
          </a:prstGeom>
        </p:spPr>
        <p:txBody>
          <a:bodyPr/>
          <a:lstStyle>
            <a:lvl1pPr algn="r">
              <a:defRPr b="1" i="0">
                <a:solidFill>
                  <a:srgbClr val="0EA54B"/>
                </a:solidFill>
                <a:latin typeface="Avenir Black" panose="02000503020000020003" pitchFamily="2" charset="0"/>
              </a:defRPr>
            </a:lvl1pPr>
          </a:lstStyle>
          <a:p>
            <a:fld id="{5A87940B-36EE-FC4C-9277-04B10208D470}" type="slidenum">
              <a:rPr lang="es-MX" smtClean="0"/>
              <a:pPr/>
              <a:t>‹Nº›</a:t>
            </a:fld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1C9570C-1B18-49E8-ADCD-501C0DE560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3760" y="347211"/>
            <a:ext cx="1456613" cy="27384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D3C75D1-EEDE-B656-12E4-E4CA498072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3760" y="4312549"/>
            <a:ext cx="1225313" cy="60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0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905462-3630-ABC7-EC3F-0CE90E6A91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4104" y="427435"/>
            <a:ext cx="1870472" cy="3292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6108DCB-5D10-BE80-D1D6-A3269C1F36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4309" y="3797055"/>
            <a:ext cx="1922838" cy="95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E9FFB-28E8-F74D-8A90-7CEF662A310F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8BD30-4BF8-6346-AADE-751A85549E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01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3D5BC72-6103-4764-9B2F-C6C719E4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870" y="0"/>
            <a:ext cx="9235440" cy="5143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B1DE630-D3CF-4896-A7A5-F5BFCFD9B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980" y="1061085"/>
            <a:ext cx="2400300" cy="2724150"/>
          </a:xfrm>
          <a:prstGeom prst="rect">
            <a:avLst/>
          </a:prstGeom>
        </p:spPr>
      </p:pic>
      <p:sp>
        <p:nvSpPr>
          <p:cNvPr id="10" name="TextBox 19">
            <a:extLst>
              <a:ext uri="{FF2B5EF4-FFF2-40B4-BE49-F238E27FC236}">
                <a16:creationId xmlns:a16="http://schemas.microsoft.com/office/drawing/2014/main" id="{F21BFB9D-566C-4F85-9E46-01D8BE64A092}"/>
              </a:ext>
            </a:extLst>
          </p:cNvPr>
          <p:cNvSpPr txBox="1"/>
          <p:nvPr/>
        </p:nvSpPr>
        <p:spPr>
          <a:xfrm>
            <a:off x="-1268730" y="290862"/>
            <a:ext cx="6710057" cy="4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Hipotecario  2025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8A6B0088-986F-4F8D-8B98-8D04EE51914A}"/>
              </a:ext>
            </a:extLst>
          </p:cNvPr>
          <p:cNvSpPr txBox="1"/>
          <p:nvPr/>
        </p:nvSpPr>
        <p:spPr>
          <a:xfrm>
            <a:off x="5040954" y="2197720"/>
            <a:ext cx="4343723" cy="4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El Banco de Hoy</a:t>
            </a:r>
          </a:p>
        </p:txBody>
      </p:sp>
    </p:spTree>
    <p:extLst>
      <p:ext uri="{BB962C8B-B14F-4D97-AF65-F5344CB8AC3E}">
        <p14:creationId xmlns:p14="http://schemas.microsoft.com/office/powerpoint/2010/main" val="174592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FB6BAEA-A2F3-42C5-AB46-8D35C6F2A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1303"/>
            <a:ext cx="9144000" cy="5321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260236-6C99-4673-BEE2-84FE18A43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59364" cy="60104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6EBD1EE-A2A8-4CC5-823F-7C41DEE96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6" y="0"/>
            <a:ext cx="5147274" cy="6010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1DA8C75-0691-40D3-9740-14FECADD5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87964"/>
            <a:ext cx="4042792" cy="4443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51130F9-9D02-475D-AD6B-8DB446BA0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0164" y="152884"/>
            <a:ext cx="676275" cy="29527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1F14F30-8618-40D0-8193-1F948BBBE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233" y="111"/>
            <a:ext cx="640971" cy="53223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9F31CE2-B903-B44F-3935-7F31E38CDC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1"/>
            <a:ext cx="9144000" cy="461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7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474038D7-0B8C-4902-A06E-2D465EA80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68517" y="315394"/>
            <a:ext cx="8088145" cy="430910"/>
          </a:xfrm>
        </p:spPr>
        <p:txBody>
          <a:bodyPr>
            <a:normAutofit lnSpcReduction="10000"/>
          </a:bodyPr>
          <a:lstStyle/>
          <a:p>
            <a:pPr algn="r"/>
            <a:r>
              <a:rPr lang="es-MX" sz="2400" b="1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 OPORTUNIDAD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8A5725-CE5A-403C-82AC-DE8E60798515}"/>
              </a:ext>
            </a:extLst>
          </p:cNvPr>
          <p:cNvSpPr/>
          <p:nvPr/>
        </p:nvSpPr>
        <p:spPr>
          <a:xfrm>
            <a:off x="200466" y="1128056"/>
            <a:ext cx="6035039" cy="4734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r>
              <a:rPr lang="es-MX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Adquisición Terreno.</a:t>
            </a:r>
          </a:p>
          <a:p>
            <a:pPr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</a:pPr>
            <a:r>
              <a:rPr lang="es-MX" altLang="es-MX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     	     </a:t>
            </a:r>
            <a:r>
              <a:rPr lang="es-MX" altLang="es-MX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Tasa desde 10.20% e Intereses sin IVA.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r>
              <a:rPr lang="es-MX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Tu Casa² o Terreno².   </a:t>
            </a:r>
          </a:p>
          <a:p>
            <a:pPr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</a:pPr>
            <a:r>
              <a:rPr lang="es-MX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	   </a:t>
            </a:r>
            <a:r>
              <a:rPr lang="es-MX" altLang="es-MX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Adquiere Casa o Terreno con 0% de enganche.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r>
              <a:rPr lang="es-MX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Construcción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r>
              <a:rPr lang="es-MX" altLang="es-MX" sz="15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       </a:t>
            </a:r>
            <a:r>
              <a:rPr lang="es-MX" altLang="es-MX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75%  La 1era.  Ministración.</a:t>
            </a: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r>
              <a:rPr lang="es-MX" altLang="es-MX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Terreno + Construcción. </a:t>
            </a:r>
          </a:p>
          <a:p>
            <a:pPr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</a:pPr>
            <a:r>
              <a:rPr lang="es-MX" altLang="es-MX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  	</a:t>
            </a:r>
            <a:r>
              <a:rPr lang="es-MX" altLang="es-MX" sz="15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   (Combinado).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endParaRPr lang="es-MX" altLang="es-MX" sz="2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18 CuadroTexto">
            <a:extLst>
              <a:ext uri="{FF2B5EF4-FFF2-40B4-BE49-F238E27FC236}">
                <a16:creationId xmlns:a16="http://schemas.microsoft.com/office/drawing/2014/main" id="{1ADA974A-D20E-45DA-85EE-B00620C58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294" y="1328531"/>
            <a:ext cx="3404381" cy="382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r>
              <a:rPr lang="es-MX" altLang="es-MX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Sustitución de Terreno</a:t>
            </a:r>
          </a:p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r>
              <a:rPr lang="es-MX" altLang="es-MX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Sustitución + Construcción</a:t>
            </a:r>
          </a:p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r>
              <a:rPr lang="es-MX" altLang="es-MX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Sustitución + Liquidez</a:t>
            </a:r>
          </a:p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r>
              <a:rPr lang="es-MX" altLang="es-MX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Sustitución INFONAVIT</a:t>
            </a:r>
          </a:p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r>
              <a:rPr lang="es-MX" altLang="es-MX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Sustitución FOVISSSTE</a:t>
            </a:r>
          </a:p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r>
              <a:rPr lang="es-MX" altLang="es-MX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Sustitución de Hipoteca</a:t>
            </a:r>
          </a:p>
          <a:p>
            <a: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Tx/>
              <a:buChar char="»"/>
            </a:pPr>
            <a:endParaRPr lang="es-MX" altLang="es-MX" sz="18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rgbClr val="00B050"/>
              </a:buClr>
              <a:buSzPct val="120000"/>
              <a:buNone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Leelawadee" pitchFamily="34" charset="-34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rgbClr val="00B050"/>
              </a:buClr>
              <a:buSzPct val="120000"/>
              <a:buNone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Leelawadee" pitchFamily="34" charset="-34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00B050"/>
              </a:buClr>
              <a:buSzPct val="120000"/>
            </a:pPr>
            <a:endParaRPr lang="es-MX" altLang="es-MX" sz="9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Leelawadee" pitchFamily="34" charset="-34"/>
            </a:endParaRPr>
          </a:p>
        </p:txBody>
      </p:sp>
      <p:sp>
        <p:nvSpPr>
          <p:cNvPr id="5" name="Subtítulo 1">
            <a:extLst>
              <a:ext uri="{FF2B5EF4-FFF2-40B4-BE49-F238E27FC236}">
                <a16:creationId xmlns:a16="http://schemas.microsoft.com/office/drawing/2014/main" id="{0B5F74C5-478B-45BB-B286-098658929CC3}"/>
              </a:ext>
            </a:extLst>
          </p:cNvPr>
          <p:cNvSpPr txBox="1">
            <a:spLocks/>
          </p:cNvSpPr>
          <p:nvPr/>
        </p:nvSpPr>
        <p:spPr>
          <a:xfrm>
            <a:off x="0" y="1154270"/>
            <a:ext cx="8088145" cy="430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600" b="1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 comisionable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1469B9-EF04-41F9-BE11-E25466B0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029" y="0"/>
            <a:ext cx="640971" cy="53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AE35E3-E7D5-4295-8076-9FDC81638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474038D7-0B8C-4902-A06E-2D465EA80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77712" y="632836"/>
            <a:ext cx="6858000" cy="430910"/>
          </a:xfrm>
        </p:spPr>
        <p:txBody>
          <a:bodyPr>
            <a:normAutofit/>
          </a:bodyPr>
          <a:lstStyle/>
          <a:p>
            <a:pPr algn="r"/>
            <a:r>
              <a:rPr lang="es-MX" b="1" dirty="0">
                <a:solidFill>
                  <a:srgbClr val="92D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Producto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8A5725-CE5A-403C-82AC-DE8E60798515}"/>
              </a:ext>
            </a:extLst>
          </p:cNvPr>
          <p:cNvSpPr/>
          <p:nvPr/>
        </p:nvSpPr>
        <p:spPr>
          <a:xfrm>
            <a:off x="242785" y="1037456"/>
            <a:ext cx="8838651" cy="1185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3" indent="-28574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Ningún esquema de Afirme genera  penalización por prepago parcial o total.</a:t>
            </a:r>
          </a:p>
          <a:p>
            <a:pPr marL="285743" indent="-28574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Contamos con mensualidad fija o creciente, según necesidad por capacidad de pago.</a:t>
            </a:r>
          </a:p>
          <a:p>
            <a:pPr marL="257168" indent="-257168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" name="Subtítulo 1">
            <a:extLst>
              <a:ext uri="{FF2B5EF4-FFF2-40B4-BE49-F238E27FC236}">
                <a16:creationId xmlns:a16="http://schemas.microsoft.com/office/drawing/2014/main" id="{CF5EF730-DC05-4AB1-AEF3-F9F4A5810A58}"/>
              </a:ext>
            </a:extLst>
          </p:cNvPr>
          <p:cNvSpPr txBox="1">
            <a:spLocks/>
          </p:cNvSpPr>
          <p:nvPr/>
        </p:nvSpPr>
        <p:spPr>
          <a:xfrm>
            <a:off x="1469055" y="1056796"/>
            <a:ext cx="6858000" cy="430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s-MX" sz="1500" b="1" dirty="0">
              <a:solidFill>
                <a:srgbClr val="008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ubtítulo 1">
            <a:extLst>
              <a:ext uri="{FF2B5EF4-FFF2-40B4-BE49-F238E27FC236}">
                <a16:creationId xmlns:a16="http://schemas.microsoft.com/office/drawing/2014/main" id="{EB2E9651-8ABC-42A9-A560-A23F4914F538}"/>
              </a:ext>
            </a:extLst>
          </p:cNvPr>
          <p:cNvSpPr txBox="1">
            <a:spLocks/>
          </p:cNvSpPr>
          <p:nvPr/>
        </p:nvSpPr>
        <p:spPr>
          <a:xfrm>
            <a:off x="-634064" y="132790"/>
            <a:ext cx="6858000" cy="430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500" b="1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s-MX" b="1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Diferenciadores vs. Mercado</a:t>
            </a:r>
          </a:p>
        </p:txBody>
      </p:sp>
      <p:sp>
        <p:nvSpPr>
          <p:cNvPr id="6" name="Subtítulo 1">
            <a:extLst>
              <a:ext uri="{FF2B5EF4-FFF2-40B4-BE49-F238E27FC236}">
                <a16:creationId xmlns:a16="http://schemas.microsoft.com/office/drawing/2014/main" id="{B3699103-9CB1-4574-B290-FC8F18319D3C}"/>
              </a:ext>
            </a:extLst>
          </p:cNvPr>
          <p:cNvSpPr txBox="1">
            <a:spLocks/>
          </p:cNvSpPr>
          <p:nvPr/>
        </p:nvSpPr>
        <p:spPr>
          <a:xfrm>
            <a:off x="-1753847" y="1860877"/>
            <a:ext cx="6858000" cy="430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b="1" dirty="0">
                <a:solidFill>
                  <a:srgbClr val="92D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Política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3EE35E-384B-442E-9280-A12474B620F9}"/>
              </a:ext>
            </a:extLst>
          </p:cNvPr>
          <p:cNvSpPr/>
          <p:nvPr/>
        </p:nvSpPr>
        <p:spPr>
          <a:xfrm>
            <a:off x="1079053" y="2291788"/>
            <a:ext cx="7804252" cy="23820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43" indent="-28574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Asalariados formales sin historial crediticio.</a:t>
            </a:r>
          </a:p>
          <a:p>
            <a:pPr marL="285743" indent="-28574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Cualquiera puede sumar ingresos sin importar parentesco, </a:t>
            </a:r>
            <a:r>
              <a:rPr lang="es-MX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incluido COFINAVIT</a:t>
            </a:r>
          </a:p>
          <a:p>
            <a:pPr marL="285743" indent="-28574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PFAE sin cedula fiscal presentando algún documento oficial.</a:t>
            </a:r>
          </a:p>
          <a:p>
            <a:pPr marL="285743" indent="-28574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Recepción, edad mínima 25 años, máxima 69a/11m; </a:t>
            </a: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Edad + Plazo 84a/11m.</a:t>
            </a:r>
          </a:p>
          <a:p>
            <a:pPr marL="285743" indent="-285743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Socios con Información personal o de la empresa con acciones &gt;50%.</a:t>
            </a:r>
          </a:p>
          <a:p>
            <a:pPr marL="257168" indent="-257168">
              <a:spcBef>
                <a:spcPts val="450"/>
              </a:spcBef>
              <a:spcAft>
                <a:spcPts val="450"/>
              </a:spcAft>
              <a:buClr>
                <a:srgbClr val="00B050"/>
              </a:buClr>
              <a:buSzPct val="80000"/>
              <a:buFont typeface="Calibri" panose="020F0502020204030204" pitchFamily="34" charset="0"/>
              <a:buChar char="»"/>
            </a:pPr>
            <a:endParaRPr lang="es-MX" altLang="es-MX" sz="15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5DD443F-9783-48D2-9F7A-0C8FE6ED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029" y="0"/>
            <a:ext cx="640971" cy="53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1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377812" y="-43076"/>
            <a:ext cx="20677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CHECK LIST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97165" y="570434"/>
          <a:ext cx="5619810" cy="1169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9810">
                  <a:extLst>
                    <a:ext uri="{9D8B030D-6E8A-4147-A177-3AD203B41FA5}">
                      <a16:colId xmlns:a16="http://schemas.microsoft.com/office/drawing/2014/main" val="3595159394"/>
                    </a:ext>
                  </a:extLst>
                </a:gridCol>
              </a:tblGrid>
              <a:tr h="198297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GENERALES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9906194"/>
                  </a:ext>
                </a:extLst>
              </a:tr>
              <a:tr h="178468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IDENTIFICACION ( INE, PASAPORTE, CEDULA, </a:t>
                      </a:r>
                      <a:r>
                        <a:rPr lang="es-MX" sz="900" u="none" strike="noStrike" baseline="0" dirty="0">
                          <a:effectLst/>
                        </a:rPr>
                        <a:t> ID MIGRATORIA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75451156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CURP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67664974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ACTA DE NACIMIENTO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08209920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ACTA DE MATRIMONIO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90540125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COMPROBANTE DE DOMICILIO ( AGUA, </a:t>
                      </a:r>
                      <a:r>
                        <a:rPr lang="es-MX" sz="900" u="none" strike="noStrike" baseline="0" dirty="0">
                          <a:effectLst/>
                        </a:rPr>
                        <a:t> TELMEX,  CFE ANVERSO  Y REVERSO,  CABLE CON LINEA TELEFONONICA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1027718"/>
                  </a:ext>
                </a:extLst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6" y="1739851"/>
            <a:ext cx="8492257" cy="28332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660E3B5-E343-4289-A55C-8DC60E2A4402}"/>
              </a:ext>
            </a:extLst>
          </p:cNvPr>
          <p:cNvSpPr txBox="1"/>
          <p:nvPr/>
        </p:nvSpPr>
        <p:spPr>
          <a:xfrm>
            <a:off x="6189900" y="801266"/>
            <a:ext cx="295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 / A    COMPROPANTE  DE DOMIICLIO </a:t>
            </a:r>
          </a:p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 VIVE MISMO  DOMIICLIO DE LA INE</a:t>
            </a:r>
            <a:r>
              <a:rPr lang="es-MX" sz="1200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E60C60-81AE-43B0-B41A-3B35B07C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04" y="4643055"/>
            <a:ext cx="7745996" cy="5143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42F8DB-ED1E-400E-947B-862EE6F18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50594" cy="5143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5E0497D-5235-4E2C-B3AB-6FD5ABACA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8113"/>
            <a:ext cx="9144000" cy="500538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4164666-AED8-4857-8D26-96B6E5F67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33645"/>
            <a:ext cx="9144000" cy="46766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9A37259-F501-4803-899F-347B01E084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33647"/>
            <a:ext cx="9175438" cy="51910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F9EB4C0-C880-49B0-A9F2-35A0130744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594" y="-13904"/>
            <a:ext cx="9182032" cy="51435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C0E8B99-1A10-C05D-DAFF-8694F37AEC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6" y="-43076"/>
            <a:ext cx="9163891" cy="518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5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377812" y="-43076"/>
            <a:ext cx="20677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CHECK LIST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97165" y="570434"/>
          <a:ext cx="5619810" cy="1169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9810">
                  <a:extLst>
                    <a:ext uri="{9D8B030D-6E8A-4147-A177-3AD203B41FA5}">
                      <a16:colId xmlns:a16="http://schemas.microsoft.com/office/drawing/2014/main" val="3595159394"/>
                    </a:ext>
                  </a:extLst>
                </a:gridCol>
              </a:tblGrid>
              <a:tr h="198297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GENERALES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9906194"/>
                  </a:ext>
                </a:extLst>
              </a:tr>
              <a:tr h="178468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IDENTIFICACION ( INE, PASAPORTE, CEDULA, </a:t>
                      </a:r>
                      <a:r>
                        <a:rPr lang="es-MX" sz="900" u="none" strike="noStrike" baseline="0" dirty="0">
                          <a:effectLst/>
                        </a:rPr>
                        <a:t> ID MIGRATORIA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75451156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CURP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67664974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ACTA DE NACIMIENTO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08209920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ACTA DE MATRIMONIO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90540125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COMPROBANTE DE DOMICILIO ( AGUA, </a:t>
                      </a:r>
                      <a:r>
                        <a:rPr lang="es-MX" sz="900" u="none" strike="noStrike" baseline="0" dirty="0">
                          <a:effectLst/>
                        </a:rPr>
                        <a:t> TELMEX,  CFE ANVERSO  Y REVERSO,  CABLE CON LINEA TELEFONONICA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1027718"/>
                  </a:ext>
                </a:extLst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6" y="1739851"/>
            <a:ext cx="8492257" cy="28332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660E3B5-E343-4289-A55C-8DC60E2A4402}"/>
              </a:ext>
            </a:extLst>
          </p:cNvPr>
          <p:cNvSpPr txBox="1"/>
          <p:nvPr/>
        </p:nvSpPr>
        <p:spPr>
          <a:xfrm>
            <a:off x="6189900" y="801266"/>
            <a:ext cx="295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 / A    COMPROPANTE  DE DOMIICLIO </a:t>
            </a:r>
          </a:p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 VIVE MISMO  DOMIICLIO DE LA INE</a:t>
            </a:r>
            <a:r>
              <a:rPr lang="es-MX" sz="1200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E60C60-81AE-43B0-B41A-3B35B07C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04" y="4643055"/>
            <a:ext cx="7745996" cy="5143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42F8DB-ED1E-400E-947B-862EE6F18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50594" cy="5143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5E0497D-5235-4E2C-B3AB-6FD5ABACA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8113"/>
            <a:ext cx="9144000" cy="500538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4164666-AED8-4857-8D26-96B6E5F67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33645"/>
            <a:ext cx="9144000" cy="46766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9A37259-F501-4803-899F-347B01E084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33647"/>
            <a:ext cx="9175438" cy="51910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F9EB4C0-C880-49B0-A9F2-35A0130744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594" y="-13904"/>
            <a:ext cx="9182032" cy="51435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C742F33-DC95-4A3E-B056-20676C1B21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190" y="-61455"/>
            <a:ext cx="9175438" cy="521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3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377812" y="-43076"/>
            <a:ext cx="20677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CHECK LIST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97165" y="570434"/>
          <a:ext cx="5619810" cy="1169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9810">
                  <a:extLst>
                    <a:ext uri="{9D8B030D-6E8A-4147-A177-3AD203B41FA5}">
                      <a16:colId xmlns:a16="http://schemas.microsoft.com/office/drawing/2014/main" val="3595159394"/>
                    </a:ext>
                  </a:extLst>
                </a:gridCol>
              </a:tblGrid>
              <a:tr h="198297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GENERALES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9906194"/>
                  </a:ext>
                </a:extLst>
              </a:tr>
              <a:tr h="178468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IDENTIFICACION ( INE, PASAPORTE, CEDULA, </a:t>
                      </a:r>
                      <a:r>
                        <a:rPr lang="es-MX" sz="900" u="none" strike="noStrike" baseline="0" dirty="0">
                          <a:effectLst/>
                        </a:rPr>
                        <a:t> ID MIGRATORIA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75451156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CURP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67664974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ACTA DE NACIMIENTO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08209920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ACTA DE MATRIMONIO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90540125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COMPROBANTE DE DOMICILIO ( AGUA, </a:t>
                      </a:r>
                      <a:r>
                        <a:rPr lang="es-MX" sz="900" u="none" strike="noStrike" baseline="0" dirty="0">
                          <a:effectLst/>
                        </a:rPr>
                        <a:t> TELMEX,  CFE ANVERSO  Y REVERSO,  CABLE CON LINEA TELEFONONICA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1027718"/>
                  </a:ext>
                </a:extLst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6" y="1739851"/>
            <a:ext cx="8492257" cy="28332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660E3B5-E343-4289-A55C-8DC60E2A4402}"/>
              </a:ext>
            </a:extLst>
          </p:cNvPr>
          <p:cNvSpPr txBox="1"/>
          <p:nvPr/>
        </p:nvSpPr>
        <p:spPr>
          <a:xfrm>
            <a:off x="6189900" y="801266"/>
            <a:ext cx="295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 / A    COMPROPANTE  DE DOMIICLIO </a:t>
            </a:r>
          </a:p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 VIVE MISMO  DOMIICLIO DE LA INE</a:t>
            </a:r>
            <a:r>
              <a:rPr lang="es-MX" sz="1200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E60C60-81AE-43B0-B41A-3B35B07C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04" y="4643055"/>
            <a:ext cx="7745996" cy="5143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42F8DB-ED1E-400E-947B-862EE6F18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5059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90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377812" y="-43076"/>
            <a:ext cx="20677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CHECK LIST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97165" y="570434"/>
          <a:ext cx="5619810" cy="1169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9810">
                  <a:extLst>
                    <a:ext uri="{9D8B030D-6E8A-4147-A177-3AD203B41FA5}">
                      <a16:colId xmlns:a16="http://schemas.microsoft.com/office/drawing/2014/main" val="3595159394"/>
                    </a:ext>
                  </a:extLst>
                </a:gridCol>
              </a:tblGrid>
              <a:tr h="198297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GENERALES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9906194"/>
                  </a:ext>
                </a:extLst>
              </a:tr>
              <a:tr h="178468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IDENTIFICACION ( INE, PASAPORTE, CEDULA, </a:t>
                      </a:r>
                      <a:r>
                        <a:rPr lang="es-MX" sz="900" u="none" strike="noStrike" baseline="0" dirty="0">
                          <a:effectLst/>
                        </a:rPr>
                        <a:t> ID MIGRATORIA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75451156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CURP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67664974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ACTA DE NACIMIENTO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08209920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ACTA DE MATRIMONIO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90540125"/>
                  </a:ext>
                </a:extLst>
              </a:tr>
              <a:tr h="19816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COMPROBANTE DE DOMICILIO ( AGUA, </a:t>
                      </a:r>
                      <a:r>
                        <a:rPr lang="es-MX" sz="900" u="none" strike="noStrike" baseline="0" dirty="0">
                          <a:effectLst/>
                        </a:rPr>
                        <a:t> TELMEX,  CFE ANVERSO  Y REVERSO,  CABLE CON LINEA TELEFONONICA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1027718"/>
                  </a:ext>
                </a:extLst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6" y="1739851"/>
            <a:ext cx="8492257" cy="28332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660E3B5-E343-4289-A55C-8DC60E2A4402}"/>
              </a:ext>
            </a:extLst>
          </p:cNvPr>
          <p:cNvSpPr txBox="1"/>
          <p:nvPr/>
        </p:nvSpPr>
        <p:spPr>
          <a:xfrm>
            <a:off x="6189900" y="801266"/>
            <a:ext cx="295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 / A    COMPROPANTE  DE DOMIICLIO </a:t>
            </a:r>
          </a:p>
          <a:p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 VIVE MISMO  DOMIICLIO DE LA INE</a:t>
            </a:r>
            <a:r>
              <a:rPr lang="es-MX" sz="1200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E60C60-81AE-43B0-B41A-3B35B07C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04" y="4643055"/>
            <a:ext cx="7745996" cy="5143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42F8DB-ED1E-400E-947B-862EE6F18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50594" cy="5143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5E0497D-5235-4E2C-B3AB-6FD5ABACA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8113"/>
            <a:ext cx="9144000" cy="500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3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3;p7">
            <a:extLst>
              <a:ext uri="{FF2B5EF4-FFF2-40B4-BE49-F238E27FC236}">
                <a16:creationId xmlns:a16="http://schemas.microsoft.com/office/drawing/2014/main" id="{204F9A8C-D745-498A-8B98-37A0D7AEFDA0}"/>
              </a:ext>
            </a:extLst>
          </p:cNvPr>
          <p:cNvSpPr/>
          <p:nvPr/>
        </p:nvSpPr>
        <p:spPr>
          <a:xfrm>
            <a:off x="783823" y="819794"/>
            <a:ext cx="3899762" cy="2711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031" tIns="24506" rIns="49031" bIns="24506" anchor="t" anchorCtr="0">
            <a:spAutoFit/>
          </a:bodyPr>
          <a:lstStyle/>
          <a:p>
            <a:endParaRPr lang="es-MX" sz="1275" b="1" dirty="0">
              <a:solidFill>
                <a:srgbClr val="404040"/>
              </a:solidFill>
              <a:cs typeface="Calibri" panose="020F0502020204030204" pitchFamily="34" charset="0"/>
            </a:endParaRPr>
          </a:p>
          <a:p>
            <a:pPr marL="214313" indent="-214313">
              <a:spcBef>
                <a:spcPts val="225"/>
              </a:spcBef>
              <a:spcAft>
                <a:spcPts val="225"/>
              </a:spcAft>
              <a:buClr>
                <a:srgbClr val="008600"/>
              </a:buClr>
              <a:buFont typeface="Calibri Light" panose="020F0302020204030204" pitchFamily="34" charset="0"/>
              <a:buChar char="»"/>
              <a:defRPr/>
            </a:pPr>
            <a:r>
              <a:rPr lang="es-MX" sz="1275" dirty="0">
                <a:cs typeface="Arial" panose="020B0604020202020204" pitchFamily="34" charset="0"/>
              </a:rPr>
              <a:t>Valor Mínimo de Vivienda en </a:t>
            </a:r>
            <a:r>
              <a:rPr lang="es-MX" altLang="es-ES_tradnl" sz="1275" dirty="0">
                <a:ea typeface="Arial" charset="0"/>
                <a:cs typeface="Arial" panose="020B0604020202020204" pitchFamily="34" charset="0"/>
              </a:rPr>
              <a:t>remodelación </a:t>
            </a:r>
            <a:r>
              <a:rPr lang="es-MX" altLang="es-ES_tradnl" sz="1275" dirty="0">
                <a:solidFill>
                  <a:srgbClr val="008000"/>
                </a:solidFill>
                <a:ea typeface="Arial" charset="0"/>
                <a:cs typeface="Arial" panose="020B0604020202020204" pitchFamily="34" charset="0"/>
              </a:rPr>
              <a:t>$800,000.00</a:t>
            </a:r>
          </a:p>
          <a:p>
            <a:pPr marL="214313" indent="-214313">
              <a:spcBef>
                <a:spcPts val="225"/>
              </a:spcBef>
              <a:spcAft>
                <a:spcPts val="225"/>
              </a:spcAft>
              <a:buClr>
                <a:srgbClr val="008600"/>
              </a:buClr>
              <a:buFont typeface="Calibri Light" panose="020F0302020204030204" pitchFamily="34" charset="0"/>
              <a:buChar char="»"/>
              <a:defRPr/>
            </a:pPr>
            <a:r>
              <a:rPr lang="es-MX" sz="1275" dirty="0">
                <a:cs typeface="Arial" panose="020B0604020202020204" pitchFamily="34" charset="0"/>
              </a:rPr>
              <a:t>Asalariados aforo máximo </a:t>
            </a:r>
            <a:r>
              <a:rPr lang="es-MX" sz="1275" dirty="0">
                <a:solidFill>
                  <a:srgbClr val="008000"/>
                </a:solidFill>
                <a:cs typeface="Arial" panose="020B0604020202020204" pitchFamily="34" charset="0"/>
              </a:rPr>
              <a:t>40%</a:t>
            </a:r>
            <a:r>
              <a:rPr lang="es-MX" sz="1275" dirty="0">
                <a:solidFill>
                  <a:srgbClr val="00B050"/>
                </a:solidFill>
                <a:cs typeface="Arial" panose="020B0604020202020204" pitchFamily="34" charset="0"/>
              </a:rPr>
              <a:t> </a:t>
            </a:r>
            <a:r>
              <a:rPr lang="es-MX" sz="1275" dirty="0">
                <a:cs typeface="Arial" panose="020B0604020202020204" pitchFamily="34" charset="0"/>
              </a:rPr>
              <a:t> hasta </a:t>
            </a:r>
            <a:r>
              <a:rPr lang="es-MX" sz="1275" dirty="0">
                <a:solidFill>
                  <a:srgbClr val="008000"/>
                </a:solidFill>
                <a:cs typeface="Arial" panose="020B0604020202020204" pitchFamily="34" charset="0"/>
              </a:rPr>
              <a:t>$2.5 </a:t>
            </a:r>
            <a:r>
              <a:rPr lang="es-MX" sz="1275" dirty="0" err="1">
                <a:solidFill>
                  <a:srgbClr val="008000"/>
                </a:solidFill>
                <a:cs typeface="Arial" panose="020B0604020202020204" pitchFamily="34" charset="0"/>
              </a:rPr>
              <a:t>mdp</a:t>
            </a:r>
            <a:r>
              <a:rPr lang="es-MX" sz="1275" dirty="0">
                <a:solidFill>
                  <a:srgbClr val="008000"/>
                </a:solidFill>
                <a:cs typeface="Arial" panose="020B0604020202020204" pitchFamily="34" charset="0"/>
              </a:rPr>
              <a:t>.</a:t>
            </a:r>
          </a:p>
          <a:p>
            <a:pPr marL="214313" indent="-214313">
              <a:spcBef>
                <a:spcPts val="225"/>
              </a:spcBef>
              <a:spcAft>
                <a:spcPts val="225"/>
              </a:spcAft>
              <a:buClr>
                <a:srgbClr val="008600"/>
              </a:buClr>
              <a:buFont typeface="Calibri Light" panose="020F0302020204030204" pitchFamily="34" charset="0"/>
              <a:buChar char="»"/>
              <a:defRPr/>
            </a:pPr>
            <a:r>
              <a:rPr lang="es-MX" sz="1275" dirty="0">
                <a:cs typeface="Arial" panose="020B0604020202020204" pitchFamily="34" charset="0"/>
              </a:rPr>
              <a:t>Independientes o Accionistas aforo máximo del </a:t>
            </a:r>
            <a:r>
              <a:rPr lang="es-MX" sz="1275" dirty="0">
                <a:solidFill>
                  <a:srgbClr val="008000"/>
                </a:solidFill>
                <a:cs typeface="Arial" panose="020B0604020202020204" pitchFamily="34" charset="0"/>
              </a:rPr>
              <a:t>30%</a:t>
            </a:r>
            <a:r>
              <a:rPr lang="es-MX" sz="1275" dirty="0">
                <a:cs typeface="Arial" panose="020B0604020202020204" pitchFamily="34" charset="0"/>
              </a:rPr>
              <a:t> con tope de </a:t>
            </a:r>
            <a:r>
              <a:rPr lang="es-MX" sz="1275" dirty="0">
                <a:solidFill>
                  <a:srgbClr val="008000"/>
                </a:solidFill>
                <a:cs typeface="Arial" panose="020B0604020202020204" pitchFamily="34" charset="0"/>
              </a:rPr>
              <a:t>$1 </a:t>
            </a:r>
            <a:r>
              <a:rPr lang="es-MX" sz="1275" dirty="0" err="1">
                <a:solidFill>
                  <a:srgbClr val="008000"/>
                </a:solidFill>
                <a:cs typeface="Arial" panose="020B0604020202020204" pitchFamily="34" charset="0"/>
              </a:rPr>
              <a:t>mdp</a:t>
            </a:r>
            <a:r>
              <a:rPr lang="es-MX" sz="1275" dirty="0">
                <a:solidFill>
                  <a:srgbClr val="008000"/>
                </a:solidFill>
                <a:cs typeface="Arial" panose="020B0604020202020204" pitchFamily="34" charset="0"/>
              </a:rPr>
              <a:t>.</a:t>
            </a:r>
          </a:p>
          <a:p>
            <a:pPr marL="214313" indent="-214313">
              <a:spcBef>
                <a:spcPts val="225"/>
              </a:spcBef>
              <a:spcAft>
                <a:spcPts val="225"/>
              </a:spcAft>
              <a:buClr>
                <a:srgbClr val="008600"/>
              </a:buClr>
              <a:buFont typeface="Calibri Light" panose="020F0302020204030204" pitchFamily="34" charset="0"/>
              <a:buChar char="»"/>
              <a:defRPr/>
            </a:pPr>
            <a:r>
              <a:rPr lang="es-MX" sz="1275" dirty="0">
                <a:cs typeface="Arial" panose="020B0604020202020204" pitchFamily="34" charset="0"/>
              </a:rPr>
              <a:t>Solo con presupuesto de obra. Sin licencia o permiso de construcción.</a:t>
            </a:r>
          </a:p>
          <a:p>
            <a:pPr marL="214313" indent="-214313">
              <a:spcBef>
                <a:spcPts val="225"/>
              </a:spcBef>
              <a:spcAft>
                <a:spcPts val="225"/>
              </a:spcAft>
              <a:buClr>
                <a:srgbClr val="008600"/>
              </a:buClr>
              <a:buFont typeface="Calibri Light" panose="020F0302020204030204" pitchFamily="34" charset="0"/>
              <a:buChar char="»"/>
              <a:defRPr/>
            </a:pPr>
            <a:r>
              <a:rPr lang="es-MX" sz="1275" dirty="0">
                <a:cs typeface="Arial" panose="020B0604020202020204" pitchFamily="34" charset="0"/>
              </a:rPr>
              <a:t>Se puede combinar con Sustitución de Hipoteca o Mejora tu Hipoteca.</a:t>
            </a:r>
          </a:p>
          <a:p>
            <a:pPr marL="214313" indent="-214313">
              <a:spcBef>
                <a:spcPts val="225"/>
              </a:spcBef>
              <a:spcAft>
                <a:spcPts val="225"/>
              </a:spcAft>
              <a:buClr>
                <a:srgbClr val="008600"/>
              </a:buClr>
              <a:buFont typeface="Calibri Light" panose="020F0302020204030204" pitchFamily="34" charset="0"/>
              <a:buChar char="»"/>
              <a:defRPr/>
            </a:pPr>
            <a:r>
              <a:rPr lang="es-MX" sz="1275" dirty="0">
                <a:cs typeface="Arial" panose="020B0604020202020204" pitchFamily="34" charset="0"/>
              </a:rPr>
              <a:t>Aplica para terminación de obra.</a:t>
            </a:r>
          </a:p>
          <a:p>
            <a:pPr>
              <a:buClr>
                <a:srgbClr val="5AC431"/>
              </a:buClr>
            </a:pPr>
            <a:endParaRPr lang="es-MX" altLang="es-ES_tradnl" sz="1275" b="1" dirty="0">
              <a:solidFill>
                <a:srgbClr val="404040"/>
              </a:solidFill>
              <a:ea typeface="Arial" charset="0"/>
              <a:cs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00264B0-28A8-4519-9AF8-E3E575F39AE6}"/>
              </a:ext>
            </a:extLst>
          </p:cNvPr>
          <p:cNvGrpSpPr/>
          <p:nvPr/>
        </p:nvGrpSpPr>
        <p:grpSpPr>
          <a:xfrm>
            <a:off x="5426205" y="1124921"/>
            <a:ext cx="2827019" cy="2052785"/>
            <a:chOff x="7341673" y="1240718"/>
            <a:chExt cx="3769359" cy="273704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1E830FB-C391-43A7-BEDC-3F656FDB8946}"/>
                </a:ext>
              </a:extLst>
            </p:cNvPr>
            <p:cNvSpPr/>
            <p:nvPr/>
          </p:nvSpPr>
          <p:spPr>
            <a:xfrm>
              <a:off x="7341673" y="1240718"/>
              <a:ext cx="3769359" cy="27370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s-MX" altLang="es-ES_tradnl" sz="1350" b="1" dirty="0">
                <a:solidFill>
                  <a:srgbClr val="404040"/>
                </a:solidFill>
                <a:latin typeface="Calibri Light" panose="020F0302020204030204" pitchFamily="34" charset="0"/>
                <a:ea typeface="Arial" charset="0"/>
                <a:cs typeface="Calibri Light" panose="020F0302020204030204" pitchFamily="34" charset="0"/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183E951-7713-408F-A5EA-A89EDC0FCE6C}"/>
                </a:ext>
              </a:extLst>
            </p:cNvPr>
            <p:cNvSpPr/>
            <p:nvPr/>
          </p:nvSpPr>
          <p:spPr>
            <a:xfrm>
              <a:off x="7447691" y="1336066"/>
              <a:ext cx="3573890" cy="25423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s-MX" altLang="es-ES_tradnl" sz="675" b="1" dirty="0">
                <a:solidFill>
                  <a:srgbClr val="404040"/>
                </a:solidFill>
                <a:ea typeface="Arial" charset="0"/>
                <a:cs typeface="Arial" panose="020B0604020202020204" pitchFamily="34" charset="0"/>
              </a:endParaRPr>
            </a:p>
            <a:p>
              <a:r>
                <a:rPr lang="es-MX" altLang="es-ES_tradnl" sz="1350" b="1" dirty="0">
                  <a:solidFill>
                    <a:srgbClr val="404040"/>
                  </a:solidFill>
                  <a:ea typeface="Arial" charset="0"/>
                  <a:cs typeface="Arial" panose="020B0604020202020204" pitchFamily="34" charset="0"/>
                </a:rPr>
                <a:t>Beneficios</a:t>
              </a:r>
              <a:endParaRPr lang="es-MX" sz="1350" b="1" dirty="0">
                <a:solidFill>
                  <a:srgbClr val="404040"/>
                </a:solidFill>
                <a:ea typeface="Arial"/>
                <a:cs typeface="Arial" panose="020B0604020202020204" pitchFamily="34" charset="0"/>
                <a:sym typeface="Arial"/>
              </a:endParaRPr>
            </a:p>
            <a:p>
              <a:pPr lvl="0"/>
              <a:endParaRPr lang="es-MX" sz="825" dirty="0">
                <a:solidFill>
                  <a:srgbClr val="404040"/>
                </a:solidFill>
                <a:cs typeface="Arial" panose="020B0604020202020204" pitchFamily="34" charset="0"/>
              </a:endParaRPr>
            </a:p>
            <a:p>
              <a:pPr marL="109287" indent="-109287">
                <a:buClr>
                  <a:srgbClr val="5AC431"/>
                </a:buClr>
                <a:buFont typeface="Arial" panose="020B0604020202020204" pitchFamily="34" charset="0"/>
                <a:buChar char="•"/>
              </a:pPr>
              <a:r>
                <a:rPr lang="es-MX" altLang="es-ES_tradnl" sz="1350" dirty="0">
                  <a:solidFill>
                    <a:srgbClr val="404040"/>
                  </a:solidFill>
                  <a:ea typeface="Arial" charset="0"/>
                  <a:cs typeface="Arial" panose="020B0604020202020204" pitchFamily="34" charset="0"/>
                </a:rPr>
                <a:t>Se entrega en una sola exhibición y al momento de firmar el total de la línea de crédito.</a:t>
              </a:r>
            </a:p>
            <a:p>
              <a:pPr marL="109287" indent="-109287">
                <a:lnSpc>
                  <a:spcPct val="30000"/>
                </a:lnSpc>
                <a:buClr>
                  <a:srgbClr val="5AC431"/>
                </a:buClr>
                <a:buFont typeface="Arial" panose="020B0604020202020204" pitchFamily="34" charset="0"/>
                <a:buChar char="•"/>
              </a:pPr>
              <a:endParaRPr lang="es-MX" altLang="es-ES_tradnl" sz="1350" dirty="0">
                <a:solidFill>
                  <a:srgbClr val="404040"/>
                </a:solidFill>
                <a:ea typeface="Arial" charset="0"/>
                <a:cs typeface="Arial" panose="020B0604020202020204" pitchFamily="34" charset="0"/>
              </a:endParaRPr>
            </a:p>
            <a:p>
              <a:pPr marL="109287" indent="-109287">
                <a:buClr>
                  <a:srgbClr val="5AC431"/>
                </a:buClr>
                <a:buFont typeface="Arial" panose="020B0604020202020204" pitchFamily="34" charset="0"/>
                <a:buChar char="•"/>
              </a:pPr>
              <a:r>
                <a:rPr lang="es-MX" altLang="es-ES_tradnl" sz="1350" dirty="0">
                  <a:solidFill>
                    <a:srgbClr val="404040"/>
                  </a:solidFill>
                  <a:ea typeface="Arial" charset="0"/>
                  <a:cs typeface="Arial" panose="020B0604020202020204" pitchFamily="34" charset="0"/>
                </a:rPr>
                <a:t>Posibilidad de financiar los gastos de operación dentro del mismo crédito.</a:t>
              </a:r>
            </a:p>
          </p:txBody>
        </p:sp>
      </p:grpSp>
      <p:sp>
        <p:nvSpPr>
          <p:cNvPr id="8" name="Subtítulo 1">
            <a:extLst>
              <a:ext uri="{FF2B5EF4-FFF2-40B4-BE49-F238E27FC236}">
                <a16:creationId xmlns:a16="http://schemas.microsoft.com/office/drawing/2014/main" id="{3F43A8A0-69B4-4842-ABE7-4C98E5D50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078" y="222494"/>
            <a:ext cx="6858000" cy="430910"/>
          </a:xfrm>
        </p:spPr>
        <p:txBody>
          <a:bodyPr>
            <a:normAutofit/>
          </a:bodyPr>
          <a:lstStyle/>
          <a:p>
            <a:pPr algn="r"/>
            <a:r>
              <a:rPr lang="es-MX" sz="1350" b="1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Destino: </a:t>
            </a:r>
            <a:r>
              <a:rPr lang="es-MX" sz="1350" b="1" u="sng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REMODELACIÓN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A3B612E-263B-419A-BDBC-14E3639972C0}"/>
              </a:ext>
            </a:extLst>
          </p:cNvPr>
          <p:cNvSpPr txBox="1"/>
          <p:nvPr/>
        </p:nvSpPr>
        <p:spPr>
          <a:xfrm>
            <a:off x="2011988" y="4675145"/>
            <a:ext cx="625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/>
              <a:t>Plazo de crédito de 5 a 20 años. Monto de crédito desde $200,000 pesos. Comisión por Apertura del 1%. </a:t>
            </a:r>
          </a:p>
          <a:p>
            <a:r>
              <a:rPr lang="es-MX" sz="900" dirty="0"/>
              <a:t>Comisión de administración de $399.00 + I.V.A.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C7A8473-9A6F-42EF-A486-004ED23417CC}"/>
              </a:ext>
            </a:extLst>
          </p:cNvPr>
          <p:cNvGraphicFramePr>
            <a:graphicFrameLocks noGrp="1"/>
          </p:cNvGraphicFramePr>
          <p:nvPr/>
        </p:nvGraphicFramePr>
        <p:xfrm>
          <a:off x="2669070" y="3769621"/>
          <a:ext cx="3105150" cy="6429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352013259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25776001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3050812856"/>
                    </a:ext>
                  </a:extLst>
                </a:gridCol>
              </a:tblGrid>
              <a:tr h="223838">
                <a:tc>
                  <a:txBody>
                    <a:bodyPr/>
                    <a:lstStyle/>
                    <a:p>
                      <a:pPr algn="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Monto crédito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 ≤ 3mdp</a:t>
                      </a:r>
                    </a:p>
                  </a:txBody>
                  <a:tcPr marL="4763" marR="4763" marT="4763" marB="0" anchor="ctr">
                    <a:lnL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E61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 &gt;3mdp</a:t>
                      </a:r>
                    </a:p>
                  </a:txBody>
                  <a:tcPr marL="4763" marR="4763" marT="4763" marB="0" anchor="ctr">
                    <a:lnL w="25400" cap="flat" cmpd="dbl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E6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Enganche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≥ 40%</a:t>
                      </a:r>
                    </a:p>
                  </a:txBody>
                  <a:tcPr marL="4763" marR="4763" marT="4763" marB="0" anchor="ctr">
                    <a:lnL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≥ 40%</a:t>
                      </a:r>
                    </a:p>
                  </a:txBody>
                  <a:tcPr marL="4763" marR="4763" marT="4763" marB="0" anchor="ctr">
                    <a:lnL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133324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Tasa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9.95%</a:t>
                      </a:r>
                    </a:p>
                  </a:txBody>
                  <a:tcPr marL="4763" marR="4763" marT="4763" marB="0" anchor="ctr">
                    <a:lnL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10.35%</a:t>
                      </a:r>
                    </a:p>
                  </a:txBody>
                  <a:tcPr marL="4763" marR="4763" marT="4763" marB="0" anchor="ctr">
                    <a:lnL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6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91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CuadroTexto">
            <a:extLst>
              <a:ext uri="{FF2B5EF4-FFF2-40B4-BE49-F238E27FC236}">
                <a16:creationId xmlns:a16="http://schemas.microsoft.com/office/drawing/2014/main" id="{5E6DF5F2-6548-4F99-969E-79EAB716D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174" y="817855"/>
            <a:ext cx="794635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defTabSz="457189">
              <a:spcBef>
                <a:spcPct val="0"/>
              </a:spcBef>
              <a:buClr>
                <a:srgbClr val="00B050"/>
              </a:buClr>
              <a:buNone/>
            </a:pPr>
            <a:r>
              <a:rPr lang="es-MX" altLang="es-MX" sz="135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Arial" panose="020B0604020202020204" pitchFamily="34" charset="0"/>
              </a:rPr>
              <a:t>El cálculo de cada ministración de la línea autorizada es en base a el valor actual de la garantía, sin un tope mínimo o máximo de disposiciones.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00223D1-78C9-4D3F-9D80-51041DF6B9BD}"/>
              </a:ext>
            </a:extLst>
          </p:cNvPr>
          <p:cNvGraphicFramePr>
            <a:graphicFrameLocks noGrp="1"/>
          </p:cNvGraphicFramePr>
          <p:nvPr/>
        </p:nvGraphicFramePr>
        <p:xfrm>
          <a:off x="1036182" y="1533676"/>
          <a:ext cx="2692883" cy="654369"/>
        </p:xfrm>
        <a:graphic>
          <a:graphicData uri="http://schemas.openxmlformats.org/drawingml/2006/table">
            <a:tbl>
              <a:tblPr/>
              <a:tblGrid>
                <a:gridCol w="1783452">
                  <a:extLst>
                    <a:ext uri="{9D8B030D-6E8A-4147-A177-3AD203B41FA5}">
                      <a16:colId xmlns:a16="http://schemas.microsoft.com/office/drawing/2014/main" val="274503302"/>
                    </a:ext>
                  </a:extLst>
                </a:gridCol>
                <a:gridCol w="909431">
                  <a:extLst>
                    <a:ext uri="{9D8B030D-6E8A-4147-A177-3AD203B41FA5}">
                      <a16:colId xmlns:a16="http://schemas.microsoft.com/office/drawing/2014/main" val="4240074168"/>
                    </a:ext>
                  </a:extLst>
                </a:gridCol>
              </a:tblGrid>
              <a:tr h="164783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Valor actual del inmueble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$1,000,000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360235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Presupuesto de obra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$1,500,000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260604"/>
                  </a:ext>
                </a:extLst>
              </a:tr>
              <a:tr h="301943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Valor final del inmueble        </a:t>
                      </a:r>
                      <a:r>
                        <a:rPr lang="es-MX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(valor avalúo proyectado)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$2,500,000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240034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049D716-258D-4947-8D60-21BBDCC7D842}"/>
              </a:ext>
            </a:extLst>
          </p:cNvPr>
          <p:cNvGraphicFramePr>
            <a:graphicFrameLocks noGrp="1"/>
          </p:cNvGraphicFramePr>
          <p:nvPr/>
        </p:nvGraphicFramePr>
        <p:xfrm>
          <a:off x="3885677" y="1514256"/>
          <a:ext cx="4437165" cy="687706"/>
        </p:xfrm>
        <a:graphic>
          <a:graphicData uri="http://schemas.openxmlformats.org/drawingml/2006/table">
            <a:tbl>
              <a:tblPr/>
              <a:tblGrid>
                <a:gridCol w="1401971">
                  <a:extLst>
                    <a:ext uri="{9D8B030D-6E8A-4147-A177-3AD203B41FA5}">
                      <a16:colId xmlns:a16="http://schemas.microsoft.com/office/drawing/2014/main" val="1313558891"/>
                    </a:ext>
                  </a:extLst>
                </a:gridCol>
                <a:gridCol w="1401971">
                  <a:extLst>
                    <a:ext uri="{9D8B030D-6E8A-4147-A177-3AD203B41FA5}">
                      <a16:colId xmlns:a16="http://schemas.microsoft.com/office/drawing/2014/main" val="2746940100"/>
                    </a:ext>
                  </a:extLst>
                </a:gridCol>
                <a:gridCol w="1633223">
                  <a:extLst>
                    <a:ext uri="{9D8B030D-6E8A-4147-A177-3AD203B41FA5}">
                      <a16:colId xmlns:a16="http://schemas.microsoft.com/office/drawing/2014/main" val="3846363078"/>
                    </a:ext>
                  </a:extLst>
                </a:gridCol>
              </a:tblGrid>
              <a:tr h="164783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VALIDACIÓN MONTO DE CRÉDITO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18526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 valor </a:t>
                      </a:r>
                    </a:p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proyectado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(100% del presupuesto)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Monto para </a:t>
                      </a:r>
                    </a:p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construcción ajustado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94950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$1,750,000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$1,500,000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$1,500,000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741750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28F321F-6CAA-40AA-833D-2D2A93DBE547}"/>
              </a:ext>
            </a:extLst>
          </p:cNvPr>
          <p:cNvGraphicFramePr>
            <a:graphicFrameLocks noGrp="1"/>
          </p:cNvGraphicFramePr>
          <p:nvPr/>
        </p:nvGraphicFramePr>
        <p:xfrm>
          <a:off x="1597602" y="2390503"/>
          <a:ext cx="6291470" cy="2560320"/>
        </p:xfrm>
        <a:graphic>
          <a:graphicData uri="http://schemas.openxmlformats.org/drawingml/2006/table">
            <a:tbl>
              <a:tblPr/>
              <a:tblGrid>
                <a:gridCol w="1858844">
                  <a:extLst>
                    <a:ext uri="{9D8B030D-6E8A-4147-A177-3AD203B41FA5}">
                      <a16:colId xmlns:a16="http://schemas.microsoft.com/office/drawing/2014/main" val="3949173066"/>
                    </a:ext>
                  </a:extLst>
                </a:gridCol>
                <a:gridCol w="779934">
                  <a:extLst>
                    <a:ext uri="{9D8B030D-6E8A-4147-A177-3AD203B41FA5}">
                      <a16:colId xmlns:a16="http://schemas.microsoft.com/office/drawing/2014/main" val="3675193947"/>
                    </a:ext>
                  </a:extLst>
                </a:gridCol>
                <a:gridCol w="1130904">
                  <a:extLst>
                    <a:ext uri="{9D8B030D-6E8A-4147-A177-3AD203B41FA5}">
                      <a16:colId xmlns:a16="http://schemas.microsoft.com/office/drawing/2014/main" val="271284054"/>
                    </a:ext>
                  </a:extLst>
                </a:gridCol>
                <a:gridCol w="1260894">
                  <a:extLst>
                    <a:ext uri="{9D8B030D-6E8A-4147-A177-3AD203B41FA5}">
                      <a16:colId xmlns:a16="http://schemas.microsoft.com/office/drawing/2014/main" val="3036762574"/>
                    </a:ext>
                  </a:extLst>
                </a:gridCol>
                <a:gridCol w="1260894">
                  <a:extLst>
                    <a:ext uri="{9D8B030D-6E8A-4147-A177-3AD203B41FA5}">
                      <a16:colId xmlns:a16="http://schemas.microsoft.com/office/drawing/2014/main" val="391434791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Ejemplo ministraciones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3574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</a:rPr>
                        <a:t>No. de ministraciones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1" i="0" u="none" strike="noStrike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1" i="0" u="none" strike="noStrike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1" i="0" u="none" strike="noStrike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5897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Valor actual del inmueble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$1,000,000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$1,750,000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$2,223,776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4920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5275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2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Validación 1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</a:t>
                      </a:r>
                      <a:r>
                        <a:rPr lang="es-MX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sobre el valor del inmueble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1" i="0" u="none" strike="noStrike" kern="1200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$750,000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$1,312,500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$1,667,832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8849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6171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s-MX" sz="12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Validación 2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Reporte avance de obra </a:t>
                      </a: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($1,750,000)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 </a:t>
                      </a:r>
                      <a:r>
                        <a:rPr lang="es-MX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1.43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$1,223,776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$1,555,088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Monto ajustado a remanente de crédito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9797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Monto menor entre 1 y 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$1,223,776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$1,555,088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5433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Menos disposiciones anteriores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-$750,000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-$1,223,776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9460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Disposición neta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1" i="0" u="none" strike="noStrike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</a:rPr>
                        <a:t>$750,000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1" i="0" u="none" strike="noStrike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</a:rPr>
                        <a:t>$473,776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1" i="0" u="none" strike="noStrike" kern="1200" dirty="0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$331,312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1" i="0" u="none" strike="noStrike"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</a:rPr>
                        <a:t>$276,224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7727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Crédito restante por disponer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$750,000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$276,224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156035"/>
                  </a:ext>
                </a:extLst>
              </a:tr>
            </a:tbl>
          </a:graphicData>
        </a:graphic>
      </p:graphicFrame>
      <p:sp>
        <p:nvSpPr>
          <p:cNvPr id="8" name="Subtítulo 1">
            <a:extLst>
              <a:ext uri="{FF2B5EF4-FFF2-40B4-BE49-F238E27FC236}">
                <a16:creationId xmlns:a16="http://schemas.microsoft.com/office/drawing/2014/main" id="{E5B668DB-36D6-4BA6-AB22-438779595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0167" y="200131"/>
            <a:ext cx="6858000" cy="430910"/>
          </a:xfrm>
        </p:spPr>
        <p:txBody>
          <a:bodyPr>
            <a:normAutofit/>
          </a:bodyPr>
          <a:lstStyle/>
          <a:p>
            <a:pPr algn="r"/>
            <a:r>
              <a:rPr lang="es-MX" sz="1350" b="1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Ejemplo: </a:t>
            </a:r>
            <a:r>
              <a:rPr lang="es-MX" sz="1350" b="1" u="sng" dirty="0">
                <a:solidFill>
                  <a:srgbClr val="008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CONSTRUCCIÓN</a:t>
            </a:r>
          </a:p>
        </p:txBody>
      </p:sp>
    </p:spTree>
    <p:extLst>
      <p:ext uri="{BB962C8B-B14F-4D97-AF65-F5344CB8AC3E}">
        <p14:creationId xmlns:p14="http://schemas.microsoft.com/office/powerpoint/2010/main" val="270097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377812" y="-43076"/>
            <a:ext cx="20677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CHECK LIST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E60C60-81AE-43B0-B41A-3B35B07C8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004" y="4643055"/>
            <a:ext cx="7745996" cy="5143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3433B3A-496A-4B63-BDB1-80C1239F2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65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1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9DFFAE1-42E8-4C5B-904C-465DDD2D622E}"/>
              </a:ext>
            </a:extLst>
          </p:cNvPr>
          <p:cNvSpPr txBox="1">
            <a:spLocks/>
          </p:cNvSpPr>
          <p:nvPr/>
        </p:nvSpPr>
        <p:spPr>
          <a:xfrm>
            <a:off x="806656" y="1940920"/>
            <a:ext cx="6039914" cy="12616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GRACIAS !</a:t>
            </a:r>
          </a:p>
        </p:txBody>
      </p:sp>
    </p:spTree>
    <p:extLst>
      <p:ext uri="{BB962C8B-B14F-4D97-AF65-F5344CB8AC3E}">
        <p14:creationId xmlns:p14="http://schemas.microsoft.com/office/powerpoint/2010/main" val="40759124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8223</TotalTime>
  <Words>705</Words>
  <Application>Microsoft Office PowerPoint</Application>
  <PresentationFormat>Presentación en pantalla (16:9)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Microsoft YaHei</vt:lpstr>
      <vt:lpstr>Arial</vt:lpstr>
      <vt:lpstr>Arial Black</vt:lpstr>
      <vt:lpstr>Avenir Black</vt:lpstr>
      <vt:lpstr>Calibri</vt:lpstr>
      <vt:lpstr>Calibri Light</vt:lpstr>
      <vt:lpstr>Microsoft Sans Serif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afirme grupo financiero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mercadotecnia5</dc:creator>
  <cp:lastModifiedBy>Alejandro Ivannovich Lira Rodriguez</cp:lastModifiedBy>
  <cp:revision>402</cp:revision>
  <dcterms:created xsi:type="dcterms:W3CDTF">2017-02-17T19:11:39Z</dcterms:created>
  <dcterms:modified xsi:type="dcterms:W3CDTF">2025-10-22T17:51:25Z</dcterms:modified>
</cp:coreProperties>
</file>